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Top attacking batsmen (strike rate, 500+ balls)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Strike Rate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AD Russell</c:v>
                  </c:pt>
                  <c:pt idx="1">
                    <c:v>N Pooran</c:v>
                  </c:pt>
                  <c:pt idx="2">
                    <c:v>SP Narine</c:v>
                  </c:pt>
                  <c:pt idx="3">
                    <c:v>HH Pandya</c:v>
                  </c:pt>
                  <c:pt idx="4">
                    <c:v>CH Morris</c:v>
                  </c:pt>
                  <c:pt idx="5">
                    <c:v>V Sehwag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182.3</c:v>
                </c:pt>
                <c:pt idx="1">
                  <c:v>165.4</c:v>
                </c:pt>
                <c:pt idx="2">
                  <c:v>164.3</c:v>
                </c:pt>
                <c:pt idx="3">
                  <c:v>159.3</c:v>
                </c:pt>
                <c:pt idx="4">
                  <c:v>157.9</c:v>
                </c:pt>
                <c:pt idx="5">
                  <c:v>155.4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Most economical bowlers (runs/over, 500+ balls)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Economy</c:v>
                </c:pt>
              </c:strCache>
            </c:strRef>
          </c:tx>
          <c:spPr>
            <a:solidFill>
              <a:srgbClr val="2328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 Tanvir</c:v>
                  </c:pt>
                  <c:pt idx="1">
                    <c:v>Rashid Khan</c:v>
                  </c:pt>
                  <c:pt idx="2">
                    <c:v>J Yadav</c:v>
                  </c:pt>
                  <c:pt idx="3">
                    <c:v>SM Pollock</c:v>
                  </c:pt>
                  <c:pt idx="4">
                    <c:v>A Kumble</c:v>
                  </c:pt>
                  <c:pt idx="5">
                    <c:v>M Murali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6.25</c:v>
                </c:pt>
                <c:pt idx="1">
                  <c:v>6.34</c:v>
                </c:pt>
                <c:pt idx="2">
                  <c:v>6.52</c:v>
                </c:pt>
                <c:pt idx="3">
                  <c:v>6.6</c:v>
                </c:pt>
                <c:pt idx="4">
                  <c:v>6.66</c:v>
                </c:pt>
                <c:pt idx="5">
                  <c:v>6.69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Eden Gardens — total runs by season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C8102E"/>
            </a:solidFill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2008</c:v>
                  </c:pt>
                  <c:pt idx="1">
                    <c:v>2010</c:v>
                  </c:pt>
                  <c:pt idx="2">
                    <c:v>2011</c:v>
                  </c:pt>
                  <c:pt idx="3">
                    <c:v>2012</c:v>
                  </c:pt>
                  <c:pt idx="4">
                    <c:v>2013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3686</c:v>
                </c:pt>
                <c:pt idx="1">
                  <c:v>4334</c:v>
                </c:pt>
                <c:pt idx="2">
                  <c:v>3708</c:v>
                </c:pt>
                <c:pt idx="3">
                  <c:v>4024</c:v>
                </c:pt>
                <c:pt idx="4">
                  <c:v>4608</c:v>
                </c:pt>
                <c:pt idx="5">
                  <c:v>4772</c:v>
                </c:pt>
                <c:pt idx="6">
                  <c:v>4146</c:v>
                </c:pt>
                <c:pt idx="7">
                  <c:v>4388</c:v>
                </c:pt>
                <c:pt idx="8">
                  <c:v>5770</c:v>
                </c:pt>
                <c:pt idx="9">
                  <c:v>5302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How batsmen get out (all seasons)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Dismissals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bubble3D val="0"/>
            <c:spPr>
              <a:solidFill>
                <a:srgbClr val="23282D"/>
              </a:solidFill>
              <a:effectLst/>
            </c:spPr>
          </c:dPt>
          <c:dPt>
            <c:idx val="2"/>
            <c:bubble3D val="0"/>
            <c:spPr>
              <a:solidFill>
                <a:srgbClr val="E8B04B"/>
              </a:solidFill>
              <a:effectLst/>
            </c:spPr>
          </c:dPt>
          <c:dPt>
            <c:idx val="3"/>
            <c:bubble3D val="0"/>
            <c:spPr>
              <a:solidFill>
                <a:srgbClr val="E57373"/>
              </a:solidFill>
              <a:effectLst/>
            </c:spPr>
          </c:dPt>
          <c:dPt>
            <c:idx val="4"/>
            <c:bubble3D val="0"/>
            <c:spPr>
              <a:solidFill>
                <a:srgbClr val="90A4AE"/>
              </a:solidFill>
              <a:effectLst/>
            </c:spPr>
          </c:dPt>
          <c:dPt>
            <c:idx val="5"/>
            <c:bubble3D val="0"/>
            <c:spPr>
              <a:solidFill>
                <a:srgbClr val="B0BEC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Caught</c:v>
                </c:pt>
                <c:pt idx="1">
                  <c:v>Bowled</c:v>
                </c:pt>
                <c:pt idx="2">
                  <c:v>Run Out</c:v>
                </c:pt>
                <c:pt idx="3">
                  <c:v>LBW</c:v>
                </c:pt>
                <c:pt idx="4">
                  <c:v>Stumped</c:v>
                </c:pt>
                <c:pt idx="5">
                  <c:v>C&amp;B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11486</c:v>
                </c:pt>
                <c:pt idx="1">
                  <c:v>3400</c:v>
                </c:pt>
                <c:pt idx="2">
                  <c:v>1786</c:v>
                </c:pt>
                <c:pt idx="3">
                  <c:v>1142</c:v>
                </c:pt>
                <c:pt idx="4">
                  <c:v>588</c:v>
                </c:pt>
                <c:pt idx="5">
                  <c:v>538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C8102E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108960" cy="3108960"/>
          </a:xfrm>
          <a:prstGeom prst="ellipse">
            <a:avLst/>
          </a:prstGeom>
          <a:solidFill>
            <a:srgbClr val="E8B04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CricSense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IPL analytics — ask cricket questions in plain English, get SQL-backed answers, charts, and scouting insights.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4114800"/>
            <a:ext cx="6126480" cy="56692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1148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 ·  AI insights  ·  Full-stack product  ·  PM roadmap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5212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Nimish Vohra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9B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nimishvohra576@gmail.com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a SQL coursework project to a live product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IPL seasons of ball-by-ball data hold deep insight — but it's locked behind SQL. The people who want it most can't query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slide deck of 25+ SQL queries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CEBEE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87452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web app anyone can query in English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5292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sees fixed tables only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85292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CEBE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85292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novel, specific questions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31336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needs SQL knowledge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3831336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C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831336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&amp; runs safe SQL for them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9744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or audience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4809744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C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809744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personas, metrics, and roadmap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CricSense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CricSense AI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581912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065" y="1712305"/>
            <a:ext cx="306141" cy="306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English; an LLM writes a safe, validated SQL query and runs it.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5112" y="132588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81144" y="1581912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537" y="1712305"/>
            <a:ext cx="306141" cy="3061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5232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Auto-visualization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81144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returns the right chart — bar, line, or scatter — plus a table.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01584" y="132588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57616" y="1581912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09" y="1712305"/>
            <a:ext cx="306141" cy="30614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61704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archetypes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57616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analytical lenses: attackers, anchors, hard-hitters, economists, wicket-takers, all-rounders, keepers.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136392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3392424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065" y="3522817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4107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intelligence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04672" y="4005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Run-scoring trends and pitch behaviour by stadium and season.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25112" y="3136392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81144" y="3392424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537" y="3522817"/>
            <a:ext cx="306141" cy="30614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85232" y="34107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 SQL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581144" y="4005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execution, allow-listing, AST validation, timeouts — injection-proof.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01584" y="3136392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57616" y="3392424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009" y="3522817"/>
            <a:ext cx="306141" cy="30614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61704" y="34107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narration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357616" y="4005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turns each result into a one-paragraph scouting note.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CricSense AI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Architecture: a safe text-to-SQL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591056" y="1801368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449" y="1931761"/>
            <a:ext cx="306141" cy="306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752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bar + charts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224028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93008" y="1600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4443984" y="1801368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377" y="1931761"/>
            <a:ext cx="306141" cy="3061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93008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493008" y="2752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SELECT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240280"/>
            <a:ext cx="274320" cy="274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345936" y="1600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7296912" y="1801368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7305" y="1931761"/>
            <a:ext cx="306141" cy="30614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45936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345936" y="2752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cap rows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2240280"/>
            <a:ext cx="274320" cy="27432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198864" y="1600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2" name="Shape 14"/>
          <p:cNvSpPr/>
          <p:nvPr/>
        </p:nvSpPr>
        <p:spPr>
          <a:xfrm>
            <a:off x="10149840" y="1801368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0233" y="1931761"/>
            <a:ext cx="306141" cy="306141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198864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9198864" y="2752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/ Postgres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JSON: sql · rows · chart spec · narrative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40080" y="4160520"/>
            <a:ext cx="10881360" cy="2057400"/>
          </a:xfrm>
          <a:prstGeom prst="roundRect">
            <a:avLst>
              <a:gd name="adj" fmla="val 4444"/>
            </a:avLst>
          </a:prstGeom>
          <a:solidFill>
            <a:srgbClr val="2E343A"/>
          </a:solidFill>
          <a:ln/>
        </p:spPr>
      </p:sp>
      <p:sp>
        <p:nvSpPr>
          <p:cNvPr id="28" name="Text 19"/>
          <p:cNvSpPr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choices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914400" y="47548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for the demo, Postgres for prod — </a:t>
            </a:r>
            <a:pPr indent="0" marL="0">
              <a:buNone/>
            </a:pPr>
            <a:r>
              <a:rPr lang="en-US" sz="1250" dirty="0">
                <a:solidFill>
                  <a:srgbClr val="E6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ANSI SQL runs in both; reviewers clone &amp; run with zero DB setup.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914400" y="519379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v_* views — </a:t>
            </a:r>
            <a:pPr indent="0" marL="0">
              <a:buNone/>
            </a:pPr>
            <a:r>
              <a:rPr lang="en-US" sz="1250" dirty="0">
                <a:solidFill>
                  <a:srgbClr val="E6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25+ queries become tested, first-class views the LLM is steered toward.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914400" y="563270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as its own layer — </a:t>
            </a:r>
            <a:pPr indent="0" marL="0">
              <a:buNone/>
            </a:pPr>
            <a:r>
              <a:rPr lang="en-US" sz="1250" dirty="0">
                <a:solidFill>
                  <a:srgbClr val="E6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on top of a read-only DB role; clear, user-facing rejection reasons.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CricSense AI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858" y="604418"/>
            <a:ext cx="345643" cy="345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text-to-SQL stays safe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stops the LLM from dropping your table?” — the layered answer: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4F5F7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039112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828800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Schema-scoped prompt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sees table/column names + allowed views — never write verbs.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88336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4F5F7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898648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80160" y="2688336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validation (sqlglot)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parsed to a tree; anything that isn't a single SELECT is rejected.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547872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4F5F7"/>
          </a:solidFill>
          <a:ln/>
        </p:spPr>
      </p:sp>
      <p:sp>
        <p:nvSpPr>
          <p:cNvPr id="15" name="Shape 12"/>
          <p:cNvSpPr/>
          <p:nvPr/>
        </p:nvSpPr>
        <p:spPr>
          <a:xfrm>
            <a:off x="749808" y="3758184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3547872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allow-list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reference outside the known schema — even in a subquery — is blocked.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407408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4F5F7"/>
          </a:solidFill>
          <a:ln/>
        </p:spPr>
      </p:sp>
      <p:sp>
        <p:nvSpPr>
          <p:cNvPr id="19" name="Shape 16"/>
          <p:cNvSpPr/>
          <p:nvPr/>
        </p:nvSpPr>
        <p:spPr>
          <a:xfrm>
            <a:off x="749808" y="461772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80160" y="4407408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DB role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role has no INSERT / UPDATE / DELETE / DDL grants.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266944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4F5F7"/>
          </a:solidFill>
          <a:ln/>
        </p:spPr>
      </p:sp>
      <p:sp>
        <p:nvSpPr>
          <p:cNvPr id="23" name="Shape 20"/>
          <p:cNvSpPr/>
          <p:nvPr/>
        </p:nvSpPr>
        <p:spPr>
          <a:xfrm>
            <a:off x="749808" y="5477256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80160" y="5266944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timeout + row cap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scans are killed; payloads are LIMIT-ed.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589520" y="1828800"/>
            <a:ext cx="4023360" cy="4114800"/>
          </a:xfrm>
          <a:prstGeom prst="roundRect">
            <a:avLst>
              <a:gd name="adj" fmla="val 1818"/>
            </a:avLst>
          </a:prstGeom>
          <a:solidFill>
            <a:srgbClr val="1A1A1A"/>
          </a:solidFill>
          <a:ln/>
        </p:spPr>
      </p:sp>
      <p:sp>
        <p:nvSpPr>
          <p:cNvPr id="27" name="Text 24"/>
          <p:cNvSpPr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examples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818120" y="242316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1; DROP TABLE ipl_ball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only a single SELECT is allowed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ipl_ball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Delete statement not allowed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pg_user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table not permitted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v_attacking_batsman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accepted, capped to 100 rows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CricSense AI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Insights the platform surfaces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the original 16-season analysis, now queryable on demand.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60020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548640" y="406908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6309360" y="406908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CricSense AI</a:t>
            </a:r>
            <a:endParaRPr lang="en-US" sz="900" dirty="0"/>
          </a:p>
        </p:txBody>
      </p:sp>
      <p:sp>
        <p:nvSpPr>
          <p:cNvPr id="9" name="Text 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581912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065" y="1712305"/>
            <a:ext cx="306141" cy="306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194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Recharts. Ask-bar UX, auto-charts, “view SQL” transparency panel.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5112" y="132588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81144" y="1581912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537" y="1712305"/>
            <a:ext cx="306141" cy="3061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5232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81144" y="2194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Pydantic. /ask, /archetypes, /venues, /health endpoints with typed schemas.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01584" y="132588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57616" y="1581912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09" y="1712305"/>
            <a:ext cx="306141" cy="30614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61704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57616" y="2194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text-to-SQL, chart selection, and result narration.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136392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3392424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065" y="3522817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4107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04672" y="40050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(zero-setup demo) / PostgreSQL (prod), ~260k deliveries, curated v_* views.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25112" y="3136392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81144" y="3392424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537" y="3522817"/>
            <a:ext cx="306141" cy="30614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85232" y="34107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581144" y="40050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sqlglot AST validation, allow-listing, read-only role, statement timeouts.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01584" y="3136392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57616" y="3392424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009" y="3522817"/>
            <a:ext cx="306141" cy="30614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61704" y="34107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357616" y="40050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(lint, build, tests), synthetic-data seed, MIT-licensed.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CricSense AI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as a product, not just a query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1406347"/>
            <a:ext cx="296266" cy="2962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2984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66928" y="1965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player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undervalued hard-hitters before the auction.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26243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scout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cheap all-rounders with strong bowling strike rates.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328269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journalist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defensible stat fast — with the SQL shown.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39410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fan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a GOAT debate with real numbers.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1280160"/>
            <a:ext cx="548640" cy="548640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267" y="1406347"/>
            <a:ext cx="296266" cy="2962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2984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355080" y="20116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CEBEE"/>
          </a:solidFill>
          <a:ln/>
        </p:spPr>
      </p:sp>
      <p:sp>
        <p:nvSpPr>
          <p:cNvPr id="14" name="Text 10"/>
          <p:cNvSpPr/>
          <p:nvPr/>
        </p:nvSpPr>
        <p:spPr>
          <a:xfrm>
            <a:off x="6355080" y="21762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&gt;90%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6492240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acceptance rate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125712" y="20116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CEBEE"/>
          </a:solidFill>
          <a:ln/>
        </p:spPr>
      </p:sp>
      <p:sp>
        <p:nvSpPr>
          <p:cNvPr id="17" name="Text 13"/>
          <p:cNvSpPr/>
          <p:nvPr/>
        </p:nvSpPr>
        <p:spPr>
          <a:xfrm>
            <a:off x="9125712" y="21762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&lt;6s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9262872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question→answer latency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355080" y="3593592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CEBEE"/>
          </a:solidFill>
          <a:ln/>
        </p:spPr>
      </p:sp>
      <p:sp>
        <p:nvSpPr>
          <p:cNvPr id="20" name="Text 16"/>
          <p:cNvSpPr/>
          <p:nvPr/>
        </p:nvSpPr>
        <p:spPr>
          <a:xfrm>
            <a:off x="6355080" y="375818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&gt;40%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6492240" y="4434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with 3+ questions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125712" y="3593592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CEBEE"/>
          </a:solidFill>
          <a:ln/>
        </p:spPr>
      </p:sp>
      <p:sp>
        <p:nvSpPr>
          <p:cNvPr id="23" name="Text 19"/>
          <p:cNvSpPr/>
          <p:nvPr/>
        </p:nvSpPr>
        <p:spPr>
          <a:xfrm>
            <a:off x="9125712" y="375818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&lt;5%</a:t>
            </a:r>
            <a:endParaRPr lang="en-US" sz="3200" dirty="0"/>
          </a:p>
        </p:txBody>
      </p:sp>
      <p:sp>
        <p:nvSpPr>
          <p:cNvPr id="24" name="Text 20"/>
          <p:cNvSpPr/>
          <p:nvPr/>
        </p:nvSpPr>
        <p:spPr>
          <a:xfrm>
            <a:off x="9262872" y="4434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false-reject rate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55080" y="5440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North-star: Weekly Answered Questions (WAQ)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CricSense AI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11880" cy="4663440"/>
          </a:xfrm>
          <a:prstGeom prst="roundRect">
            <a:avLst>
              <a:gd name="adj" fmla="val 2532"/>
            </a:avLst>
          </a:prstGeom>
          <a:solidFill>
            <a:srgbClr val="2E343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3154680" cy="4572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v1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Ask anything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 text-to-SQL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player archetypes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intelligence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+ AI narration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6552" y="1463040"/>
            <a:ext cx="3611880" cy="4663440"/>
          </a:xfrm>
          <a:prstGeom prst="roundRect">
            <a:avLst>
              <a:gd name="adj" fmla="val 2532"/>
            </a:avLst>
          </a:prstGeom>
          <a:solidFill>
            <a:srgbClr val="2E343A"/>
          </a:solidFill>
          <a:ln/>
        </p:spPr>
      </p:sp>
      <p:sp>
        <p:nvSpPr>
          <p:cNvPr id="9" name="Shape 7"/>
          <p:cNvSpPr/>
          <p:nvPr/>
        </p:nvSpPr>
        <p:spPr>
          <a:xfrm>
            <a:off x="4645152" y="1691640"/>
            <a:ext cx="3154680" cy="457200"/>
          </a:xfrm>
          <a:prstGeom prst="roundRect">
            <a:avLst>
              <a:gd name="adj" fmla="val 50000"/>
            </a:avLst>
          </a:prstGeom>
          <a:solidFill>
            <a:srgbClr val="E8B04B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v2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 &amp; decide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6592" y="29260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Win-probability model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Fantasy-team optimizer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&amp; shareable answers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comparison mode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3024" y="1463040"/>
            <a:ext cx="3611880" cy="4663440"/>
          </a:xfrm>
          <a:prstGeom prst="roundRect">
            <a:avLst>
              <a:gd name="adj" fmla="val 2532"/>
            </a:avLst>
          </a:prstGeom>
          <a:solidFill>
            <a:srgbClr val="2E343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21624" y="1691640"/>
            <a:ext cx="3154680" cy="457200"/>
          </a:xfrm>
          <a:prstGeom prst="roundRect">
            <a:avLst>
              <a:gd name="adj" fmla="val 50000"/>
            </a:avLst>
          </a:prstGeom>
          <a:solidFill>
            <a:srgbClr val="8E9BA8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v3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67344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Beyond IPL, live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13064" y="29260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Multi-league (BBL, PSL)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alerts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CricSense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6576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05" y="956005"/>
            <a:ext cx="419710" cy="4197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28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a deck of queries to a product people can use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7724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CricSense AI pairs a guardrailed text-to-SQL engine with a real product story — personas, metrics, and a roadmap — turning 16 seasons of IPL data into answers anyone can get in seconds.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5074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· Live site (Lovable) · PRD &amp; roadmap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Nimish Vohra  ·  nimishvohra576@gmail.com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CricSense AI</dc:title>
  <dc:subject>PptxGenJS Presentation</dc:subject>
  <dc:creator>Nimish Vohra</dc:creator>
  <cp:lastModifiedBy>Nimish Vohra</cp:lastModifiedBy>
  <cp:revision>1</cp:revision>
  <dcterms:created xsi:type="dcterms:W3CDTF">2026-06-24T03:46:26Z</dcterms:created>
  <dcterms:modified xsi:type="dcterms:W3CDTF">2026-06-24T03:46:26Z</dcterms:modified>
</cp:coreProperties>
</file>